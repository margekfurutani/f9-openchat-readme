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E87A1E"/>
                </a:solidFill>
                <a:latin typeface="Meiryo"/>
              </a:rPr>
              <a:t>OpenChat × AWS IVS / 視聴クライアント編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468880"/>
            <a:ext cx="10607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Meiryo"/>
              </a:rPr>
              <a:t>openchat-member ─ subscribe側SDK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7D3E2"/>
                </a:solidFill>
                <a:latin typeface="Meiryo"/>
              </a:rPr>
              <a:t>パフォーマの映像を IVS Stage から subscribe する（自身は配信しない）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5669280"/>
            <a:ext cx="3840480" cy="50292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amazon-ivs-web-broadcast v1.33.0  /  src/api/ivsStageController.js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7899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eiryo"/>
              </a:rPr>
              <a:t>概要 / import するSDK要素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164592"/>
            <a:ext cx="914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0">
                <a:solidFill>
                  <a:srgbClr val="9FB0C4"/>
                </a:solidFill>
                <a:latin typeface="Meiryo"/>
              </a:rPr>
              <a:t>03 member /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10972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22272E"/>
                </a:solidFill>
                <a:latin typeface="Meiryo"/>
              </a:rPr>
              <a:t>• 役割: パフォーマの映像を IVS Stage から subscribe（視聴）。自身は配信しない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22272E"/>
                </a:solidFill>
                <a:latin typeface="Consolas"/>
              </a:rPr>
              <a:t>▶ 実装: src/api/ivsStageController.js（利用元: ViewerComponent.vue）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900" b="1">
                <a:solidFill>
                  <a:srgbClr val="2E6FB5"/>
                </a:solidFill>
                <a:latin typeface="Meiryo"/>
              </a:rPr>
              <a:t>import するSDK要素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22272E"/>
                </a:solidFill>
                <a:latin typeface="Consolas"/>
              </a:rPr>
              <a:t>▶ Stage ─ Stageへの接続オブジェクト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22272E"/>
                </a:solidFill>
                <a:latin typeface="Consolas"/>
              </a:rPr>
              <a:t>▶ SubscribeType ─ 購読種別（視聴側は AUDIO_VIDEO）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22272E"/>
                </a:solidFill>
                <a:latin typeface="Consolas"/>
              </a:rPr>
              <a:t>▶ StageEvents ─ Stageイベント定数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22272E"/>
                </a:solidFill>
                <a:latin typeface="Consolas"/>
              </a:rPr>
              <a:t>▶ StageConnectionState ─ 接続状態定数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22272E"/>
                </a:solidFill>
                <a:latin typeface="Consolas"/>
              </a:rPr>
              <a:t>▶ StreamType ─ ストリーム種別（VIDEO/AUDIO判定）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22272E"/>
                </a:solidFill>
                <a:latin typeface="Meiryo"/>
              </a:rPr>
              <a:t>• 配信側と違い LocalStageStream は使わない（publishしないため）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7899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eiryo"/>
              </a:rPr>
              <a:t>処理順（ViewerComponent）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164592"/>
            <a:ext cx="914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0">
                <a:solidFill>
                  <a:srgbClr val="9FB0C4"/>
                </a:solidFill>
                <a:latin typeface="Meiryo"/>
              </a:rPr>
              <a:t>03 member / 3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10698480" cy="936345"/>
          </a:xfrm>
          <a:prstGeom prst="rect">
            <a:avLst/>
          </a:prstGeom>
          <a:solidFill>
            <a:srgbClr val="E87A1E"/>
          </a:solidFill>
          <a:ln w="12700">
            <a:solidFill>
              <a:srgbClr val="E87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/>
          <a:lstStyle/>
          <a:p>
            <a:pPr algn="ctr"/>
            <a:r>
              <a:rPr sz="1600" b="1">
                <a:solidFill>
                  <a:srgbClr val="FFFFFF"/>
                </a:solidFill>
                <a:latin typeface="Meiryo"/>
              </a:rPr>
              <a:t>mounted</a:t>
            </a:r>
            <a:r>
              <a:rPr sz="1300" b="0">
                <a:solidFill>
                  <a:srgbClr val="FFFFFF"/>
                </a:solidFill>
                <a:latin typeface="Meiryo"/>
              </a:rPr>
              <a:t>   joinStage(subscribeToken, onState, onStreams, onLayers) ─ subscribe-only join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417673"/>
            <a:ext cx="10698480" cy="936345"/>
          </a:xfrm>
          <a:prstGeom prst="rect">
            <a:avLst/>
          </a:prstGeom>
          <a:solidFill>
            <a:srgbClr val="EFF3F8"/>
          </a:solidFill>
          <a:ln w="12700">
            <a:solidFill>
              <a:srgbClr val="CB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/>
          <a:lstStyle/>
          <a:p>
            <a:pPr algn="ctr"/>
            <a:r>
              <a:rPr sz="1600" b="1">
                <a:solidFill>
                  <a:srgbClr val="1F3355"/>
                </a:solidFill>
                <a:latin typeface="Meiryo"/>
              </a:rPr>
              <a:t>視聴中 A</a:t>
            </a:r>
            <a:r>
              <a:rPr sz="1300" b="0">
                <a:solidFill>
                  <a:srgbClr val="555F6B"/>
                </a:solidFill>
                <a:latin typeface="Meiryo"/>
              </a:rPr>
              <a:t>   onStreams(mediaStream) → video.srcObjectにセット（映像表示）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463746"/>
            <a:ext cx="10698480" cy="936345"/>
          </a:xfrm>
          <a:prstGeom prst="rect">
            <a:avLst/>
          </a:prstGeom>
          <a:solidFill>
            <a:srgbClr val="EFF3F8"/>
          </a:solidFill>
          <a:ln w="12700">
            <a:solidFill>
              <a:srgbClr val="CB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/>
          <a:lstStyle/>
          <a:p>
            <a:pPr algn="ctr"/>
            <a:r>
              <a:rPr sz="1600" b="1">
                <a:solidFill>
                  <a:srgbClr val="1F3355"/>
                </a:solidFill>
                <a:latin typeface="Meiryo"/>
              </a:rPr>
              <a:t>視聴中 B</a:t>
            </a:r>
            <a:r>
              <a:rPr sz="1300" b="0">
                <a:solidFill>
                  <a:srgbClr val="555F6B"/>
                </a:solidFill>
                <a:latin typeface="Meiryo"/>
              </a:rPr>
              <a:t>   onLayers(layers) → simulcast層リスト更新（画質選択UI）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509819"/>
            <a:ext cx="10698480" cy="936345"/>
          </a:xfrm>
          <a:prstGeom prst="rect">
            <a:avLst/>
          </a:prstGeom>
          <a:solidFill>
            <a:srgbClr val="EFF3F8"/>
          </a:solidFill>
          <a:ln w="12700">
            <a:solidFill>
              <a:srgbClr val="CB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/>
          <a:lstStyle/>
          <a:p>
            <a:pPr algn="ctr"/>
            <a:r>
              <a:rPr sz="1600" b="1">
                <a:solidFill>
                  <a:srgbClr val="1F3355"/>
                </a:solidFill>
                <a:latin typeface="Meiryo"/>
              </a:rPr>
              <a:t>視聴中 C</a:t>
            </a:r>
            <a:r>
              <a:rPr sz="1300" b="0">
                <a:solidFill>
                  <a:srgbClr val="555F6B"/>
                </a:solidFill>
                <a:latin typeface="Meiryo"/>
              </a:rPr>
              <a:t>   setPreferredLayer(label) → 視聴画質を選択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555892"/>
            <a:ext cx="10698480" cy="936345"/>
          </a:xfrm>
          <a:prstGeom prst="rect">
            <a:avLst/>
          </a:prstGeom>
          <a:solidFill>
            <a:srgbClr val="EFF3F8"/>
          </a:solidFill>
          <a:ln w="12700">
            <a:solidFill>
              <a:srgbClr val="CB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/>
          <a:lstStyle/>
          <a:p>
            <a:pPr algn="ctr"/>
            <a:r>
              <a:rPr sz="1600" b="1">
                <a:solidFill>
                  <a:srgbClr val="1F3355"/>
                </a:solidFill>
                <a:latin typeface="Meiryo"/>
              </a:rPr>
              <a:t>beforeUnmount</a:t>
            </a:r>
            <a:r>
              <a:rPr sz="1300" b="0">
                <a:solidFill>
                  <a:srgbClr val="555F6B"/>
                </a:solidFill>
                <a:latin typeface="Meiryo"/>
              </a:rPr>
              <a:t>   leaveStage() ─ Stage退出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7899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eiryo"/>
              </a:rPr>
              <a:t>joinStage() ─ subscribe専用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164592"/>
            <a:ext cx="914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0">
                <a:solidFill>
                  <a:srgbClr val="9FB0C4"/>
                </a:solidFill>
                <a:latin typeface="Meiryo"/>
              </a:rPr>
              <a:t>03 member / 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34440"/>
          <a:ext cx="11091671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8117"/>
                <a:gridCol w="3317135"/>
                <a:gridCol w="4146419"/>
              </a:tblGrid>
              <a:tr h="457200">
                <a:tc>
                  <a:txBody>
                    <a:bodyPr wrap="square" lIns="76200" rIns="76200" tIns="38100" bIns="38100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</a:rPr>
                        <a:t>strategy</a:t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</a:rPr>
                        <a:t>値</a:t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</a:rPr>
                        <a:t>意味</a:t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</a:tr>
              <a:tr h="457200"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1">
                          <a:solidFill>
                            <a:srgbClr val="22272E"/>
                          </a:solidFill>
                          <a:latin typeface="Meiryo"/>
                        </a:rPr>
                        <a:t>stageStreamsToPublish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[]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配信しない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</a:tr>
              <a:tr h="457200"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1">
                          <a:solidFill>
                            <a:srgbClr val="22272E"/>
                          </a:solidFill>
                          <a:latin typeface="Meiryo"/>
                        </a:rPr>
                        <a:t>shouldPublishParticipant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false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視聴者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1">
                          <a:solidFill>
                            <a:srgbClr val="22272E"/>
                          </a:solidFill>
                          <a:latin typeface="Meiryo"/>
                        </a:rPr>
                        <a:t>shouldSubscribeToParticipant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SubscribeType.AUDIO_VIDEO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音声+映像を購読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</a:tr>
              <a:tr h="457200"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1">
                          <a:solidFill>
                            <a:srgbClr val="22272E"/>
                          </a:solidFill>
                          <a:latin typeface="Meiryo"/>
                        </a:rPr>
                        <a:t>preferredLayerForStream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関数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選択中のsimulcast層を返す（未選択なら自動）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3550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F6B"/>
                </a:solidFill>
                <a:latin typeface="Meiryo"/>
              </a:rPr>
              <a:t>※ new Stage(subscribeToken, strategy) → 各イベント購読 → await _stage.join()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7899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eiryo"/>
              </a:rPr>
              <a:t>コード例：joinStage（subscribe-only join）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164592"/>
            <a:ext cx="914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0">
                <a:solidFill>
                  <a:srgbClr val="9FB0C4"/>
                </a:solidFill>
                <a:latin typeface="Meiryo"/>
              </a:rPr>
              <a:t>03 member /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0">
                <a:solidFill>
                  <a:srgbClr val="555F6B"/>
                </a:solidFill>
                <a:latin typeface="Meiryo"/>
              </a:rPr>
              <a:t>• ivsStageController.js ─ 配信しないstrategy。preferredLayerForStreamで画質指定</a:t>
            </a:r>
          </a:p>
        </p:txBody>
      </p:sp>
      <p:sp>
        <p:nvSpPr>
          <p:cNvPr id="8" name="Parallelogram 7"/>
          <p:cNvSpPr/>
          <p:nvPr/>
        </p:nvSpPr>
        <p:spPr>
          <a:xfrm>
            <a:off x="640080" y="1737360"/>
            <a:ext cx="10908792" cy="4389120"/>
          </a:xfrm>
          <a:prstGeom prst="parallelogram">
            <a:avLst/>
          </a:prstGeom>
          <a:solidFill>
            <a:srgbClr val="1E212B"/>
          </a:solidFill>
          <a:ln w="12700">
            <a:solidFill>
              <a:srgbClr val="3A40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77800" rIns="101600" tIns="101600" bIns="1016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export async function joinStage (subscribeToken, onState,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                               onStreams, onLayers)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const strategy =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  stageStreamsToPublish:        () =&gt; [],     // 配信しない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  shouldPublishParticipant:     () =&gt; false,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AB0F3"/>
                </a:solidFill>
                <a:latin typeface="Consolas"/>
              </a:rPr>
              <a:t>    shouldSubscribeToParticipant: () =&gt; SubscribeType.AUDIO_VIDEO,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AB0F3"/>
                </a:solidFill>
                <a:latin typeface="Consolas"/>
              </a:rPr>
              <a:t>    preferredLayerForStream: (_p, stream) =&gt;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    if (!_preferredLayerLabel) return null     // 未選択=自動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    if (stream.streamType !== StreamType.VIDEO) return null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    return _preferredLayerLabel                // 選択中の画質層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_stage = new Stage(subscribeToken, strategy)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EC699"/>
                </a:solidFill>
                <a:latin typeface="Consolas"/>
              </a:rPr>
              <a:t>  // ... 各イベントを購読 ...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await _stage.join()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172199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87A1E"/>
                </a:solidFill>
                <a:latin typeface="Meiryo"/>
              </a:rPr>
              <a:t>視聴側は AUDIO_VIDEO を購読。LocalStageStreamは使わない（publishしないため）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7899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eiryo"/>
              </a:rPr>
              <a:t>購読イベント詳細 ─ このイベントでこう処理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164592"/>
            <a:ext cx="914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0">
                <a:solidFill>
                  <a:srgbClr val="9FB0C4"/>
                </a:solidFill>
                <a:latin typeface="Meiryo"/>
              </a:rPr>
              <a:t>03 member / 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34440"/>
          <a:ext cx="11091671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37502"/>
                <a:gridCol w="6554169"/>
              </a:tblGrid>
              <a:tr h="457200">
                <a:tc>
                  <a:txBody>
                    <a:bodyPr wrap="square" lIns="76200" rIns="76200" tIns="38100" bIns="38100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</a:rPr>
                        <a:t>イベント</a:t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</a:rPr>
                        <a:t>処理</a:t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</a:tr>
              <a:tr h="457200"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1">
                          <a:solidFill>
                            <a:srgbClr val="22272E"/>
                          </a:solidFill>
                          <a:latin typeface="Meiryo"/>
                        </a:rPr>
                        <a:t>STAGE_CONNECTION_STATE_CHANGED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connecting/connected/disconnected をコールバック通知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</a:tr>
              <a:tr h="457200"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1">
                          <a:solidFill>
                            <a:srgbClr val="22272E"/>
                          </a:solidFill>
                          <a:latin typeface="Meiryo"/>
                        </a:rPr>
                        <a:t>STAGE_PARTICIPANT_STREAMS_ADDED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パフォーマ映像到着。MediaStream組立→onStreams。getLayers()→onLayers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1">
                          <a:solidFill>
                            <a:srgbClr val="22272E"/>
                          </a:solidFill>
                          <a:latin typeface="Meiryo"/>
                        </a:rPr>
                        <a:t>STAGE_PARTICIPANT_STREAMS_REMOVED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配信停止。onStreams(null) / onLayers([])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</a:tr>
              <a:tr h="457200"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1">
                          <a:solidFill>
                            <a:srgbClr val="22272E"/>
                          </a:solidFill>
                          <a:latin typeface="Meiryo"/>
                        </a:rPr>
                        <a:t>STAGE_STREAM_LAYERS_CHANGED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simulcast層の変化。消えたら自動に戻し(refreshStrategy)→onLayers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3550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F6B"/>
                </a:solidFill>
                <a:latin typeface="Meiryo"/>
              </a:rPr>
              <a:t>※ 自身（participant.isLocal）のストリームは無視する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7899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eiryo"/>
              </a:rPr>
              <a:t>コード例：STREAMS_ADDED（映像受信→表示）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164592"/>
            <a:ext cx="914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0">
                <a:solidFill>
                  <a:srgbClr val="9FB0C4"/>
                </a:solidFill>
                <a:latin typeface="Meiryo"/>
              </a:rPr>
              <a:t>03 member /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0">
                <a:solidFill>
                  <a:srgbClr val="555F6B"/>
                </a:solidFill>
                <a:latin typeface="Meiryo"/>
              </a:rPr>
              <a:t>• ivsStageController.js ─ パフォーマ映像が来たらMediaStreamを組み立てて通知</a:t>
            </a:r>
          </a:p>
        </p:txBody>
      </p:sp>
      <p:sp>
        <p:nvSpPr>
          <p:cNvPr id="8" name="Parallelogram 7"/>
          <p:cNvSpPr/>
          <p:nvPr/>
        </p:nvSpPr>
        <p:spPr>
          <a:xfrm>
            <a:off x="640080" y="1737360"/>
            <a:ext cx="10908792" cy="4389120"/>
          </a:xfrm>
          <a:prstGeom prst="parallelogram">
            <a:avLst/>
          </a:prstGeom>
          <a:solidFill>
            <a:srgbClr val="1E212B"/>
          </a:solidFill>
          <a:ln w="12700">
            <a:solidFill>
              <a:srgbClr val="3A40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77800" rIns="101600" tIns="101600" bIns="1016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_stage.on(StageEvents.STAGE_PARTICIPANT_STREAMS_ADDED,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(participant, streams) =&gt;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  if (participant &amp;&amp; participant.isLocal) return  // 自分は無視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AB0F3"/>
                </a:solidFill>
                <a:latin typeface="Consolas"/>
              </a:rPr>
              <a:t>    const mediaStream = new MediaStream()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  for (let i = 0; i &lt; streams.length; i++)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    mediaStream.addTrack(streams[i].mediaStreamTrack)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AB0F3"/>
                </a:solidFill>
                <a:latin typeface="Consolas"/>
              </a:rPr>
              <a:t>    _onStreams(mediaStream)        // → video.srcObject にセット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  const v = findVideoStream(streams)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  if (v) _onLayers(v.getLayers() || [])  // simulcast層リスト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})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172199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87A1E"/>
                </a:solidFill>
                <a:latin typeface="Meiryo"/>
              </a:rPr>
              <a:t>STREAMS_REMOVED では onStreams(null)/onLayers([]) を通知して表示停止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7899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eiryo"/>
              </a:rPr>
              <a:t>STREAMS_ADDED の映像組み立て / レイヤー選択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164592"/>
            <a:ext cx="914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0">
                <a:solidFill>
                  <a:srgbClr val="9FB0C4"/>
                </a:solidFill>
                <a:latin typeface="Meiryo"/>
              </a:rPr>
              <a:t>03 member /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10972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900" b="1">
                <a:solidFill>
                  <a:srgbClr val="2E6FB5"/>
                </a:solidFill>
                <a:latin typeface="Meiryo"/>
              </a:rPr>
              <a:t>STREAMS_ADDED の映像組み立て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22272E"/>
                </a:solidFill>
                <a:latin typeface="Consolas"/>
              </a:rPr>
              <a:t>▶ const mediaStream = new MediaStream()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22272E"/>
                </a:solidFill>
                <a:latin typeface="Consolas"/>
              </a:rPr>
              <a:t>▶ for (const s of streams) mediaStream.addTrack(s.mediaStreamTrack)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22272E"/>
                </a:solidFill>
                <a:latin typeface="Consolas"/>
              </a:rPr>
              <a:t>▶ onStreams(mediaStream)   // video.srcObject にセット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900" b="1">
                <a:solidFill>
                  <a:srgbClr val="2E6FB5"/>
                </a:solidFill>
                <a:latin typeface="Meiryo"/>
              </a:rPr>
              <a:t>setPreferredLayer(label) ─ 視聴simulcast層（画質）を選択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22272E"/>
                </a:solidFill>
                <a:latin typeface="Meiryo"/>
              </a:rPr>
              <a:t>• _preferredLayerLabel を更新し _stage.refreshStrategy() で反映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22272E"/>
                </a:solidFill>
                <a:latin typeface="Meiryo"/>
              </a:rPr>
              <a:t>• labelが空なら自動選択に戻る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22272E"/>
                </a:solidFill>
                <a:latin typeface="Meiryo"/>
              </a:rPr>
              <a:t>• preferredLayerForStreamがこの値を返すことで購読層が切り替わる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900" b="1">
                <a:solidFill>
                  <a:srgbClr val="2E6FB5"/>
                </a:solidFill>
                <a:latin typeface="Meiryo"/>
              </a:rPr>
              <a:t>leaveStage() ─ _stage.leave()＋コールバック参照をnull化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7899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eiryo"/>
              </a:rPr>
              <a:t>コード例：画質層の選択と自動フォールバック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164592"/>
            <a:ext cx="914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0">
                <a:solidFill>
                  <a:srgbClr val="9FB0C4"/>
                </a:solidFill>
                <a:latin typeface="Meiryo"/>
              </a:rPr>
              <a:t>03 member /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0">
                <a:solidFill>
                  <a:srgbClr val="555F6B"/>
                </a:solidFill>
                <a:latin typeface="Meiryo"/>
              </a:rPr>
              <a:t>• ivsStageController.js ─ setPreferredLayerで選択。層が消えたら自動に戻す</a:t>
            </a:r>
          </a:p>
        </p:txBody>
      </p:sp>
      <p:sp>
        <p:nvSpPr>
          <p:cNvPr id="8" name="Parallelogram 7"/>
          <p:cNvSpPr/>
          <p:nvPr/>
        </p:nvSpPr>
        <p:spPr>
          <a:xfrm>
            <a:off x="640080" y="1737360"/>
            <a:ext cx="10908792" cy="4389120"/>
          </a:xfrm>
          <a:prstGeom prst="parallelogram">
            <a:avLst/>
          </a:prstGeom>
          <a:solidFill>
            <a:srgbClr val="1E212B"/>
          </a:solidFill>
          <a:ln w="12700">
            <a:solidFill>
              <a:srgbClr val="3A40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77800" rIns="101600" tIns="101600" bIns="1016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EC699"/>
                </a:solidFill>
                <a:latin typeface="Consolas"/>
              </a:rPr>
              <a:t>// 視聴画質を選択（labelが空なら自動選択に戻る）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6E9EF"/>
                </a:solidFill>
                <a:latin typeface="Consolas"/>
              </a:rPr>
              <a:t>export function setPreferredLayer (label)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6E9EF"/>
                </a:solidFill>
                <a:latin typeface="Consolas"/>
              </a:rPr>
              <a:t>  _preferredLayerLabel = label || null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AB0F3"/>
                </a:solidFill>
                <a:latin typeface="Consolas"/>
              </a:rPr>
              <a:t>  if (_stage) _stage.refreshStrategy()   // strategyを再評価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6E9EF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6E9EF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EC699"/>
                </a:solidFill>
                <a:latin typeface="Consolas"/>
              </a:rPr>
              <a:t>// 選択中の層が配信側から消えたら自動に戻す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6E9EF"/>
                </a:solidFill>
                <a:latin typeface="Consolas"/>
              </a:rPr>
              <a:t>_stage.on(StageEvents.STAGE_STREAM_LAYERS_CHANGED,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6E9EF"/>
                </a:solidFill>
                <a:latin typeface="Consolas"/>
              </a:rPr>
              <a:t>  (_p, stream, layers) =&gt;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6E9EF"/>
                </a:solidFill>
                <a:latin typeface="Consolas"/>
              </a:rPr>
              <a:t>    const list = layers || []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6E9EF"/>
                </a:solidFill>
                <a:latin typeface="Consolas"/>
              </a:rPr>
              <a:t>    if (_preferredLayerLabel &amp;&amp;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6E9EF"/>
                </a:solidFill>
                <a:latin typeface="Consolas"/>
              </a:rPr>
              <a:t>        !list.some(l =&gt; l.label === _preferredLayerLabel))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6E9EF"/>
                </a:solidFill>
                <a:latin typeface="Consolas"/>
              </a:rPr>
              <a:t>      _preferredLayerLabel = null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AB0F3"/>
                </a:solidFill>
                <a:latin typeface="Consolas"/>
              </a:rPr>
              <a:t>      _stage.refreshStrategy()           // 自動に戻す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6E9EF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6E9EF"/>
                </a:solidFill>
                <a:latin typeface="Consolas"/>
              </a:rPr>
              <a:t>    _onLayers(list)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6E9EF"/>
                </a:solidFill>
                <a:latin typeface="Consolas"/>
              </a:rPr>
              <a:t>  })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172199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87A1E"/>
                </a:solidFill>
                <a:latin typeface="Meiryo"/>
              </a:rPr>
              <a:t>preferredLayerForStream がこの値を返すことで購読する画質層が切り替わる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7899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eiryo"/>
              </a:rPr>
              <a:t>WebSocketとの関係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164592"/>
            <a:ext cx="914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0">
                <a:solidFill>
                  <a:srgbClr val="9FB0C4"/>
                </a:solidFill>
                <a:latin typeface="Meiryo"/>
              </a:rPr>
              <a:t>03 member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10972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900" b="1">
                <a:solidFill>
                  <a:srgbClr val="2E6FB5"/>
                </a:solidFill>
                <a:latin typeface="Meiryo"/>
              </a:rPr>
              <a:t>subscribeTokenはWSのJOINEDで受け取る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22272E"/>
                </a:solidFill>
                <a:latin typeface="Consolas"/>
              </a:rPr>
              <a:t>▶ {stageArn, subscribeToken, expirationTime, isMember}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22272E"/>
                </a:solidFill>
                <a:latin typeface="Meiryo"/>
              </a:rPr>
              <a:t>• トークン有効期限は約1分 → WS接続後すみやかにjoinStageが必要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900" b="1">
                <a:solidFill>
                  <a:srgbClr val="2E6FB5"/>
                </a:solidFill>
                <a:latin typeface="Meiryo"/>
              </a:rPr>
              <a:t>配信終了・ログアウト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22272E"/>
                </a:solidFill>
                <a:latin typeface="Meiryo"/>
              </a:rPr>
              <a:t>• 配信終了するとサーバからOpenChatEndが届きWSクローズ → leaveStage()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22272E"/>
                </a:solidFill>
                <a:latin typeface="Meiryo"/>
              </a:rPr>
              <a:t>• Logout送信 → サーバがremoveViewer。視聴側ではStage削除しない（配信者のリソース）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