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本日は、OpenChatのライブ配信機能をAWS IVSで実装した話をします。特徴は、サーバのJavaから、配信クライアント・視聴クライアントのVueまで、3つのコンポーネントを全部1人で設計・実装したことです。今日はその全体像と、要所の設計判断を、実際のコードを見せながら説明します。所要は20分ほど、最後に質疑の時間を取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まずスコープです。OpenChatは、1人のパフォーマが配信して、大勢の会員やゲストが見る、一方向のライブ配信機能です。映像の土台にはAWS IVSのリアルタイムStageを使いました。担当範囲は3つ。サーバはJavaでStageとトークンの管理。配信側と視聴側はそれぞれVueのクライアントです。ポイントは、AWSとのバックエンド連携から、フロントのSDK実装まで、縦に1本通して作った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くべき課題です。配信は1対多で、視聴者は見るだけ、双方向はいりません。そして録画ではなくリアルタイム。ここがまず技術選定に効きます。加えて運用面が重要で、トークンが漏れても悪用されない仕組み、配信が落ちてもAWSにゴミを残さない仕組み、そして配信者の離脱と視聴者の離脱で挙動を正しく分けること。これらを満たす設計が必要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ぜIVSのStageかという話です。Stageは低遅延のリアルタイム基盤で、1対多の配信に向いています。参加者ごとにpublishとsubscribeの権限を分けられるので、一方向配信ときれいに噛み合う。simulcastで複数画質を出せるので、視聴側の回線差にも対応できる。トークンに有効期限を付けられるのでセキュリティ要件も満たせる。そしてJavaとJSの両方のSDKがあるので、サーバとクライアントを同じ概念で実装できました。要件とStageの性質が素直に対応したのが選定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全体像です。中央がAWS IVS Stage、配信の「場」です。左のパフォーマがそこへpublishし、右の会員・ゲストがsubscribeする。上のFlaxサーバがStageの作成・削除とトークン発行を担います。重要なのは下の二段構成で、まずWebSocketでFlaxが認証し、そのうえでIVSのトークンを払い出す。クライアントはそのトークンでStageにjoinします。トークンの有効期限は約1分と短く、これが後で出てくるセキュリティの肝です。この図の左半分が2章、右半分が3章、上のサーバが1章にあた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ここから1章、サーバ側です。サーバの一番の責務は、IVSのStageをいつ作っていつ消すか、その制御です。IVSのAPIを呼ぶのは実は4箇所だけ。その4箇所と、安全に消すための工夫を見ていきます。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ーバの構成です。Flaxは、Stageの作成・トークン発行・削除をSDK越しに行い、いま誰が配信中かをメモリ上で持ちます。中心はこの2つ。IvsRealtimeUtilsがIVSのSDK呼び出しを薄くラップしたクラス。OpenChatRoomManagerが配信全体をシングルトンで管理し、Stageの作成削除とRoom登録をまとめます。1配信ぶんの状態はOpenChatRoomが持ち、配信者用と視聴者用でWebSocketのエンドポイントを分け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VSのAPIラッパーはこの4つだけです。配信開始でcreateStage、視聴開始でcreateSubscribeToken、終了でdeleteStage、そして掃除用にlistStages。注目はトークンの期限で、配信も視聴も1分。これは漏れても外から使われないための設計で、トークンはStageにjoinする初回だけ使い、join後の継続には不要だから、1分で十分なんです。Stage名は openchat-パフォーマコード-タイムスタンプ という形式にしていて、これが後の孤児削除で効いてきます。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処理順を1枚にまとめました。オレンジがIVSを呼ぶ場面です。配信開始でStageを作り、視聴開始ごとに視聴トークンを発行、配信終了でStageを削除。そしてcronで毎時、取りこぼしたStageを掃除します。グレーの③視聴終了に注目してください。ここではIVSを呼びません。Stageは配信者のリソースなので、視聴者が抜けただけで消すと配信そのものが落ちてしまう。この『消す主体は配信者だけ』という線引きが、設計上いちばん大事な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Stageの実コードです。ポイントは2つ。capabilitiesでPUBLISHとSUBSCRIBEを付与しつつ、durationを1分にしている点。配信者はこの1つのトークンでStageに入ります。視聴者向けのcreateSubscribeTokenの方は、capabilitiesをSUBSCRIBEだけにして同じく1分。つまり権限の差をトークン発行の時点で付けているわけです。name にさっきの openchat- 形式の名前を渡しているのもここです。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孤児リソースを作らないための1つ目の砦です。createStageでStageを作った後、Room生成やMap登録の段階で何か失敗することがあります。そのとき、catchで作成済みのStageをdeleteStageしてから例外を投げ直す。これをやらないと、AWS上にStageだけが残ってお金もかかるしリストも汚れる。さらにcreateRoomの入口では _creating という集合にアトミックに登録していて、同じパフォーマが同時に二重で部屋を作るのを防いでいます。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信終了の処理は順番が命です。最初にMapから消す。これで終了処理中に新しい視聴者が入ってくるのを止めます。次に視聴者全員へEND通知してWSを閉じる。そして最後にStageを削除。逆順だと、Stageを消した後に滑り込んだ視聴者がエラーになったり、終了処理が二重に走ったりする。closeAllViewersは_closedフラグで一度しか動かないよう守っています。順番と冪等性をセットで設計したとこ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孤児を作らない2つ目の砦が、この毎時cronの掃除です。サーバが再起動したりクラッシュすると、deleteStageし損ねたStageが残る。それをlistStagesで全件見て回収します。怖いのは誤削除なので、ガードを3段かけています。管理中のものは除外、いま作成中のパフォーマのものは除外、そして作成から5分以内のものは除外。最後の5分は、createStage直後でまだMap登録前という一瞬のすきまで、現役のStageを誤って消さないための保険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2章は配信側のクライアントです。ここからはVueとWeb Broadcast SDKの話。カメラの映像をどうStageに送るか、画質をどう扱うかを見ます。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信クライアントの概要です。役割はシンプルで、ローカルのカメラとマイクをStageにpublishすること。SDKからはStageと、配信トラックを包むLocalStageStreamなどをimportします。画質はlow・mid・highの3プリセットを用意して、解像度とビットレートをまとめて持たせています。フレームレートは30固定ですが最大60まで設定可能です。実装はivsStageController.jsに寄せて、Vueコンポーネントからはこれを呼ぶだけ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信側のライフサイクルです。マウント時にまずカメラとマイクを取ってプレビューを出し、それからpublishTokenでStageにjoinします。配信中はミュートの切り替えと、画質の変更ができる。終了時はleaveStageでStageを抜けつつ、カメラとマイクのトラックをstopして確実に解放します。次のスライドで、このjoinと画質変更の中身を実コードで見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配信の中核です。まず映像トラックを作るとき simulcast を有効にしています。これで1本の配信から複数画質のレイヤーが出て、視聴側が選べるようになる。3章への伏線です。そしてstrategyが重要で、shouldPublishParticipantはtrue、つまり自分は配信する。一方 shouldSubscribeToParticipant は SubscribeType.NONE、他人の映像は購読しない。これが一方向配信をクライアント側で表現している部分です。最後にpublishTokenでStageを作ってjoinします。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信中の画質変更です。素朴にやるとStageを作り直したくなりますが、それだと一瞬切れるしトークンも要る。ここではStageは維持したまま、メディアを取り直してトラックを差し替え、refreshStrategyを呼ぶだけ。SDKが新しいトラックを拾い直してくれます。再joinしないのでpublishTokenも不要。配信を途切れさせずに画質を変えられるのが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最後の3章は視聴側です。配信側と対になる作りで、違いは『自分は配信しない』こと。受け取った映像の表示と、画質レイヤーの選択を見ます。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配信側との違いを1枚で対比します。同じStageクラスを使いますが、strategyが鏡像になっています。視聴側はpublishStreamsが空、publishはfalse、そしてsubscribeはAUDIO_VIDEO、つまり音声も映像も受け取る。配信側にはなかったpreferredLayerForStreamがあって、ここでどの画質レイヤーを見るかを返します。あと視聴側はLocalStageStreamを使いません。自分は何も配信しないからです。同じ概念の裏表で、頭の切り替えが要らないのが効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視聴側のjoinと映像受信です。strategyはさっきの対比どおりで、AUDIO_VIDEOを購読する設定。joinした後、パフォーマの映像が届くとSTREAMS_ADDEDイベントが飛んできます。そこで受け取ったトラックからMediaStreamを組み立てて、コールバックでVue側に渡し、videoタグのsrcObjectにセットして表示します。自分自身のストリームが混じることがあるので、isLocalなら無視しているのが地味だけど大事な一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信側でsimulcastを有効にしたおかげで、視聴側は画質を選べます。setPreferredLayerでラベルを覚えてrefreshStrategyを呼ぶと、さっきのpreferredLayerForStreamがその値を返して購読する層が切り替わる。注意したのはフォールバックで、例えば配信者が画質を下げて、いま見ている層が消えることがある。そのときLAYERS_CHANGEDで検知して自動選択に戻す。これを入れないと映像が止まってしまうので、選択UIとセットで必ず要る処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ここまでが実装の中身でした。終章では、全体を通して効いた設計判断を整理して、正直に残っている課題も話します。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して効いた判断を5つに整理しました。1つ目、短命トークン。WSで認証してから1分のIVSトークンを渡す二段構成で、漏れても悪用されにくい。2つ目、消す主体は配信者だけという線引き。これを全コードで一貫させました。3つ目、孤児リソースをロールバックと毎時掃除の二重で防ぐ。4つ目、終了処理の順序と冪等性。5つ目、配信はsimulcastで複数画質、視聴は一方向購読で画質選択。この5つが、最初に挙げた課題への答えに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直に残っている課題です。一番大きいのは孤児削除のスコープ。listStagesはアカウントとリージョン内の全Stageを返すのに、接頭辞に環境識別子が無いので、同じアカウントを複数環境で共有すると、他の環境の配信中Stageを孤児と誤判定して消す危険がある。対策は環境を分けるか、接頭辞に識別子を入れること。次に切断検知が最大2分遅れること、そして状態をメモリで持っているのでサーバ多重化には追加設計が要ること。ここは今後の宿題として認識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まとめます。OpenChatのライブ配信を、IVS Stageを土台に、サーバから配信・視聴クライアントまで1人で縦に作りました。サーバはStageとトークンのライフサイクルと終了処理の正しさ、配信はsimulcastと途切れない画質変更、視聴は一方向購読と画質選択。そして何より、短命トークン・配信者主体・孤児ゼロという一貫した思想を3層すべてに通せたことが、1人で作ったからこその成果だと思っています。以上です、ありがとうございました。質問を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87A1E"/>
                </a:solidFill>
                <a:latin typeface="Meiryo"/>
              </a:rPr>
              <a:t>AWS IVS リアルタイム配信 / 設計と実装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Meiryo"/>
              </a:rPr>
              <a:t>OpenChat ライブ配信基盤を
1人で作った話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7D3E2"/>
                </a:solidFill>
                <a:latin typeface="Meiryo"/>
              </a:rPr>
              <a:t>サーバ（Java）から配信・視聴クライアント（Vue）まで、3コンポーネントを単独で設計・実装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669280"/>
            <a:ext cx="5486400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amazon-ivs-web-broadcast v1.33.0 ／ AWS SDK for Java ivsrealtime ／ ap-northeast-1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このプロジェクトは何か / スコープ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OpenChat = 1人のパフォーマが配信し、複数の会員・ゲストが視聴する一方向ライブ配信機能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映像配信に AWS IVS（Amazon Interactive Video Service）のリアルタイム「Stage」を採用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1人で担当した範囲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サーバ（Flax / Java）: Stageの作成・トークン発行・削除、配信状態の管理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配信クライアント（openchat-performer / Vue）: カメラ映像を publish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視聴クライアント（openchat-member / Vue）: 映像を subscribe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= バックエンドのAWS連携からフロントのSDK実装まで縦に通して構築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課題 ─ 何を満たす必要があったか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ライブ配信の要件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1配信に視聴者が多数ぶら下がる（1対多）。配信者は1人、視聴者は双方向不要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低遅延でリアルタイムに見せたい（録画配信ではない）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非機能・運用面の要件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トークンが漏れても外部から勝手に使われないようにしたい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配信が落ちてもAWS上にゴミ（孤児リソース）を残さない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配信者の離脱と視聴者の離脱で、消すべきもの・消さないものを正しく分ける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なぜ AWS IVS / Stage を選んだか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9167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167"/>
                <a:gridCol w="4235002"/>
                <a:gridCol w="4537502"/>
              </a:tblGrid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要件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Stageの性質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活かし方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1対多・低遅延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リアルタイムストリーミング基盤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WebRTCベースで低遅延に多数へ配信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一方向で良い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参加者ごとにpublish/subscribe権限を制御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視聴者はSUBSCRIBEのみ付与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回線品質の差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simulcast（複数画質レイヤー）対応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視聴側が端末/回線に応じ画質を選択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短命トークン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参加トークンの有効期限を指定可能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1分に設定し漏洩リスクを最小化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AWS運用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Java/JS両SDKが提供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サーバ＝Java、クライアント＝JS で統一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アーキテクチャ全体図 ─ 3コンポーネントの関係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00400" cy="868680"/>
          </a:xfrm>
          <a:prstGeom prst="round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Flax サーバ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Stage作成 / 削除 / トークン発行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429000"/>
            <a:ext cx="3200400" cy="1371600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AWS IVS Stage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リアルタイム配信の「場」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611880"/>
            <a:ext cx="2743200" cy="1005840"/>
          </a:xfrm>
          <a:prstGeom prst="round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パフォーマ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openchat-performer（publish）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3611880"/>
            <a:ext cx="2743200" cy="10058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会員 / ゲスト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eiryo"/>
              </a:rPr>
              <a:t>openchat-member（subscribe）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06440" y="2240280"/>
            <a:ext cx="548640" cy="1143000"/>
          </a:xfrm>
          <a:prstGeom prst="downArrow">
            <a:avLst/>
          </a:prstGeom>
          <a:solidFill>
            <a:srgbClr val="9FB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468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55F6B"/>
                </a:solidFill>
                <a:latin typeface="Meiryo"/>
              </a:rPr>
              <a:t>createStage /
deleteStage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91840" y="3886200"/>
            <a:ext cx="1143000" cy="457200"/>
          </a:xfrm>
          <a:prstGeom prst="rightArrow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35661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F3355"/>
                </a:solidFill>
                <a:latin typeface="Meiryo"/>
              </a:rPr>
              <a:t>publish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34340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Consolas"/>
              </a:rPr>
              <a:t>publishToken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26679" y="3886200"/>
            <a:ext cx="1143000" cy="457200"/>
          </a:xfrm>
          <a:prstGeom prst="right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566160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F3355"/>
                </a:solidFill>
                <a:latin typeface="Meiryo"/>
              </a:rPr>
              <a:t>subscribe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3434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Consolas"/>
              </a:rPr>
              <a:t>subscribeToken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12080"/>
            <a:ext cx="11155680" cy="1143000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/>
            <a:r>
              <a:rPr sz="1400" b="1">
                <a:solidFill>
                  <a:srgbClr val="1F3355"/>
                </a:solidFill>
                <a:latin typeface="Meiryo"/>
              </a:rPr>
              <a:t>WebSocket（Flax）で認証 → IVSトークンを払い出す二段構成</a:t>
            </a:r>
          </a:p>
          <a:p>
            <a:r>
              <a:rPr sz="1200" b="0">
                <a:solidFill>
                  <a:srgbClr val="555F6B"/>
                </a:solidFill>
                <a:latin typeface="Meiryo"/>
              </a:rPr>
              <a:t>・performer WS  /ws/openChatPerformerLogin → STAGE_READY(publishToken)</a:t>
            </a:r>
          </a:p>
          <a:p>
            <a:r>
              <a:rPr sz="1200" b="0">
                <a:solidFill>
                  <a:srgbClr val="555F6B"/>
                </a:solidFill>
                <a:latin typeface="Meiryo"/>
              </a:rPr>
              <a:t>・viewer WS  /ws/openChatViewerLogin → JOINED(subscribeToken)　※トークン有効期限は約1分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280160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87A1E"/>
                </a:solidFill>
                <a:latin typeface="Meiryo"/>
              </a:rPr>
              <a:t>1章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eiryo"/>
              </a:rPr>
              <a:t>サーバ（Flax / Java）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D3E2"/>
                </a:solidFill>
                <a:latin typeface="Meiryo"/>
              </a:rPr>
              <a:t>IVS処理順 ─ いつ Stage を作り、いつ消すのか。createStage / createSubscribeToken / deleteStage / listStages を呼ぶ4箇所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サーバの責務と主要コンポーネント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1章 サーバ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Flaxの責務: Stageの作成・トークン発行・削除をSDK経由で管理し、配信状態をメモリ上で保持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主要コンポーネント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IvsRealtimeUtils ─ IVS SDK呼び出しのラッパー（Stage作成/削除・トークン・一覧）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OpenChatRoomManager ─ 配信のシングルトン管理（Stage作成/削除＋Room登録）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OpenChatRoom ─ 1配信の状態（performer / Owner / stageArn / 視聴者）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OpenChatPerformerWsClient ─ 配信用WS /ws/openChatPerformerLogin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OpenChatViewerWsClient ─ 視聴用WS /ws/openChatViewerLogin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対象パッケージ: jp.maru.flax.ivs / .openchat / .ws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この場面でこのIVS API（IvsRealtimeUtils）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1章 サーバ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6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152"/>
                <a:gridCol w="2511321"/>
                <a:gridCol w="3766982"/>
                <a:gridCol w="1674214"/>
              </a:tblGrid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メソッド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IVS API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用途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トークン期限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createStage(name)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CreateStage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配信用Stage作成＋配信トークン取得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publish 1分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createSubscribeToken(arn)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CreateParticipantToken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視聴トークン発行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subscribe 1分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deleteStage(arn)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DeleteStage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Stage削除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-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listStages()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ListStages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孤児Stage検出用の全件取得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F6B"/>
                </a:solidFill>
                <a:latin typeface="Meiryo"/>
              </a:rPr>
              <a:t>※ トークン1分はjoin時のみ使用。Stage名 openchat-{performerCode}-{timestamp} は孤児削除でperformerCode/timestampを復元するのに使う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IVS処理順サマリ ─ IVSを呼ぶのは4箇所だけ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1章 サーバ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936345"/>
          </a:xfrm>
          <a:prstGeom prst="round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① 配信開始</a:t>
            </a:r>
            <a:r>
              <a:rPr sz="1300" b="0">
                <a:solidFill>
                  <a:srgbClr val="FFFFFF"/>
                </a:solidFill>
                <a:latin typeface="Meiryo"/>
              </a:rPr>
              <a:t>   performer WS接続 → createStage() → publishToken返却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17673"/>
            <a:ext cx="10698480" cy="936345"/>
          </a:xfrm>
          <a:prstGeom prst="round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② 視聴開始</a:t>
            </a:r>
            <a:r>
              <a:rPr sz="1300" b="0">
                <a:solidFill>
                  <a:srgbClr val="FFFFFF"/>
                </a:solidFill>
                <a:latin typeface="Meiryo"/>
              </a:rPr>
              <a:t>   viewer WS接続（配信中のみ）→ createSubscribeToken() → subscribeToken返却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63746"/>
            <a:ext cx="10698480" cy="936345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③ 視聴終了</a:t>
            </a:r>
            <a:r>
              <a:rPr sz="1300" b="0">
                <a:solidFill>
                  <a:srgbClr val="555F6B"/>
                </a:solidFill>
                <a:latin typeface="Meiryo"/>
              </a:rPr>
              <a:t>   viewer切断 → removeViewer()  ※IVS呼び出しなし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09819"/>
            <a:ext cx="10698480" cy="936345"/>
          </a:xfrm>
          <a:prstGeom prst="round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④ 配信終了</a:t>
            </a:r>
            <a:r>
              <a:rPr sz="1300" b="0">
                <a:solidFill>
                  <a:srgbClr val="FFFFFF"/>
                </a:solidFill>
                <a:latin typeface="Meiryo"/>
              </a:rPr>
              <a:t>   performer切断 → 全視聴者へEND通知 → deleteStage()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55892"/>
            <a:ext cx="10698480" cy="936345"/>
          </a:xfrm>
          <a:prstGeom prst="round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⑤ 孤児削除</a:t>
            </a:r>
            <a:r>
              <a:rPr sz="1300" b="0">
                <a:solidFill>
                  <a:srgbClr val="FFFFFF"/>
                </a:solidFill>
                <a:latin typeface="Meiryo"/>
              </a:rPr>
              <a:t>   cron毎時 → listStages() → 管理外Stageを deleteStage()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コード例：createStage（Stage作成＋トークン）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1章 サーバ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IvsRealtimeUtils.java ─ PUBLISH+SUBSCRIBE権限・有効期限1分でStageを作る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ParticipantTokenConfiguration tokenConfig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ParticipantTokenConfiguration.builder()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    .capabilities(ParticipantTokenCapability.PUBLISH,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                  ParticipantTokenCapability.SUBSCRIBE)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.userId(name)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    .duration(PUBLISH_TOKEN_DURATION_MINUTES)   // = 1分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.build();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CreateStageRequest request = CreateStageRequest.builder()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.name(name)                       // openchat-{code}-{ts}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.participantTokenConfigurations(tokenConfig)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.build();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CreateStageResponse response = _client.createStage(request);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視聴トークンは createSubscribeToken() で capabilities=SUBSCRIBE のみ・1分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コード例：createRoom のロールバック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1章 サーバ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OpenChatRoomManager.java ─ 途中で失敗したら作成済みStageを必ず消す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try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CreateStageResponse stRes = IvsRealtimeUtils.createStage(name);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stageArn     = stRes.stage().arn();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publishToken = stRes.participantTokens().get(0).token();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OpenChatRoom room = new OpenChatRoom(performer, owner, stageArn);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_openChatRoomMap.put(codeKey, room);   // ← Mapに登録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_creating.remove(codeKey);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return new CreateResult(room, publishToken, expirationTime);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} catch (Exception 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_creating.remove(codeKey);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(stageArn != null)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    IvsRealtimeUtils.deleteStage(stageArn);   // ← ロールバック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throw new RuntimeException(e);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createRoom入口の _creating.add() で同一パフォーマの同時作成も排他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コード例：closeRoom（配信終了）の順序が肝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1章 サーバ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OpenChatRoomManager.java ─ Map除去 → 視聴者通知 → deleteStage の順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1. まずMapから除去（以降の新規視聴を遮断）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OpenChatRoom room =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(OpenChatRoom)_openChatRoomMap.remove(codeKey);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if (room == null) return;        // 未登録なら何もしない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2. Owner別リストからも除去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ownerList.remove(room);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3. 全視聴者へEND通知してWSクローズ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room.closeAllViewers();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4. 最後にIVS Stageを削除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if (room.getStageArn() != null)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IvsRealtimeUtils.deleteStage(room.getStageArn());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Map除去を先頭に置くことで teardown 中の新規視聴を確実に止める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コード例：cleanupOrphans の誤削除ガード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1章 サーバ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OpenChatRoomManager.java ─ cron毎時。安全なものだけ deleteStage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for (StageSummary s : IvsRealtimeUtils.listStages())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String n = s.name();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(n == null || !n.startsWith(OPENCHAT_PREFIX))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(aliveStageArns.contains(s.arn())) continue;  // 管理中は除外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   // 作成中(_creating)のパフォーマはスキップ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Integer perfCode = parseStagePerformerCode(n);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(creatingSnapshot.contains(perfCode))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   // 作成から5分以内はスキップ（登録前のrace対策）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long ts = parseStageTimestamp(n);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(ts &gt; 0 &amp;&amp; (now - ts) &lt; SAFE_STAGE_AGE_MS) continue;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IvsRealtimeUtils.deleteStage(s.arn());   // 孤児を削除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listStagesはアカウント＋リージョン内の全Stageを返す点に注意（終章で再登場）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280160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87A1E"/>
                </a:solidFill>
                <a:latin typeface="Meiryo"/>
              </a:rPr>
              <a:t>2章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eiryo"/>
              </a:rPr>
              <a:t>配信クライアント（openchat-performer）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D3E2"/>
                </a:solidFill>
                <a:latin typeface="Meiryo"/>
              </a:rPr>
              <a:t>publish側 ─ amazon-ivs-web-broadcast でローカルのカメラ/マイク映像を Stage へ送る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概要 / import するSDK要素 / 画質プリセット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2章 配信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役割: ローカルのカメラ/マイク映像を IVS Stage へ publish（配信）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実装: src/api/ivsStageController.js（利用元: BroadcastComponent.vue）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import するSDK要素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Stage / LocalStageStream / SubscribeType / StageEvents / StageConnectionState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画質プリセット（QUALITY_PRESETS）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low 640×360 / mid 854×480 / high 1280×720（いずれも30fps、最大60まで可）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maxBitrate: low 800 / mid 1200 / high 2500 kbps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処理順（BroadcastComponent）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2章 配信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936345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mounted ①</a:t>
            </a:r>
            <a:r>
              <a:rPr sz="1300" b="0">
                <a:solidFill>
                  <a:srgbClr val="555F6B"/>
                </a:solidFill>
                <a:latin typeface="Meiryo"/>
              </a:rPr>
              <a:t>   openLocalMedia(quality) ─ getUserMediaでカメラ/マイク取得 → preview表示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17673"/>
            <a:ext cx="10698480" cy="936345"/>
          </a:xfrm>
          <a:prstGeom prst="roundRect">
            <a:avLst/>
          </a:prstGeom>
          <a:solidFill>
            <a:srgbClr val="E87A1E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FFFFFF"/>
                </a:solidFill>
                <a:latin typeface="Meiryo"/>
              </a:rPr>
              <a:t>mounted ②</a:t>
            </a:r>
            <a:r>
              <a:rPr sz="1300" b="0">
                <a:solidFill>
                  <a:srgbClr val="FFFFFF"/>
                </a:solidFill>
                <a:latin typeface="Meiryo"/>
              </a:rPr>
              <a:t>   joinStage(publishToken, quality, onState) ─ Stageへ publish join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63746"/>
            <a:ext cx="10698480" cy="936345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配信中 A</a:t>
            </a:r>
            <a:r>
              <a:rPr sz="1300" b="0">
                <a:solidFill>
                  <a:srgbClr val="555F6B"/>
                </a:solidFill>
                <a:latin typeface="Meiryo"/>
              </a:rPr>
              <a:t>   setAudioMuted / setVideoMuted ─ 音声・映像の送出ON/OFF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09819"/>
            <a:ext cx="10698480" cy="936345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配信中 B</a:t>
            </a:r>
            <a:r>
              <a:rPr sz="1300" b="0">
                <a:solidFill>
                  <a:srgbClr val="555F6B"/>
                </a:solidFill>
                <a:latin typeface="Meiryo"/>
              </a:rPr>
              <a:t>   updateQuality(quality) ─ 画質変更（再joinなし）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55892"/>
            <a:ext cx="10698480" cy="936345"/>
          </a:xfrm>
          <a:prstGeom prst="roundRect">
            <a:avLst/>
          </a:prstGeom>
          <a:solidFill>
            <a:srgbClr val="EFF3F8"/>
          </a:solidFill>
          <a:ln w="1270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>
                <a:solidFill>
                  <a:srgbClr val="1F3355"/>
                </a:solidFill>
                <a:latin typeface="Meiryo"/>
              </a:rPr>
              <a:t>beforeUnmount</a:t>
            </a:r>
            <a:r>
              <a:rPr sz="1300" b="0">
                <a:solidFill>
                  <a:srgbClr val="555F6B"/>
                </a:solidFill>
                <a:latin typeface="Meiryo"/>
              </a:rPr>
              <a:t>   leaveStage() ─ Stage退出＋ローカルトラック停止（カメラ解放）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コード例：publishトラック生成と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2章 配信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ivsStageController.js ─ simulcast有効化＋publish専用strategyでjoin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映像トラックは simulcast を有効化して複数画質を送出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const videoTrack = new LocalStageStream(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_localStream.getVideoTracks()[0],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maxBitrate: preset.maxBitrate,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maxFramerate: preset.frameRate,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simulcast: { enabled: true }   // ← 視聴側が画質を選べる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})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_publishStreams = [audioTrack, videoTrack]  // [0]=音声 [1]=映像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const strategy =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stageStreamsToPublish:        () =&gt; _publishStreams,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shouldPublishParticipant:     () =&gt; true,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shouldSubscribeToParticipant: () =&gt; SubscribeType.NONE  // 一方向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_stage = new Stage(publishToken, strategy)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await _stage.join()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配信側は SubscribeType.NONE。音声/映像は _publishStreams[0]/[1] として保持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コード例：updateQuality（再joinなしの画質変更）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2章 配信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ivsStageController.js ─ Stageは維持。トラック差替→refreshStrategyで反映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/**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* 配信中の画質変更。Stageは維持したまま、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* トラックとbitrateを差し替える。再joinは不要なのでtoken不要。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export async function updateQuality (qualityKey)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if (!_stage) throw new Error('not joined yet')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await _acquireMedia(qualityKey)       // メディアを取り直す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_buildPublishStreams(qualityKey)      // トラックを差し替える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_stage.refreshStrategy()              // ← strategyを再評価し反映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return _localStream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join済みStageへ再joinせず差し替える＝配信を途切れさせない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280160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87A1E"/>
                </a:solidFill>
                <a:latin typeface="Meiryo"/>
              </a:rPr>
              <a:t>3章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eiryo"/>
              </a:rPr>
              <a:t>視聴クライアント（openchat-member）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D3E2"/>
                </a:solidFill>
                <a:latin typeface="Meiryo"/>
              </a:rPr>
              <a:t>subscribe側 ─ パフォーマの映像を Stage から受け取って表示する（自身は配信しない）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配信側との違い ─ strategyで対比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3章 視聴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9167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8334"/>
                <a:gridCol w="3327501"/>
                <a:gridCol w="4335835"/>
              </a:tblGrid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strategy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配信側（performer）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視聴側（member）</a:t>
                      </a:r>
                    </a:p>
                  </a:txBody>
                  <a:tcPr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stageStreamsToPublish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_publishStreams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[]（配信しない）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shouldPublishParticipant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shouldSubscribeToParticipant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SubscribeType.NONE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SubscribeType.AUDIO_VIDEO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preferredLayerForStream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選択中のsimulcast層を返す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6200" rIns="76200"/>
                    <a:lstStyle/>
                    <a:p>
                      <a:r>
                        <a:rPr sz="1200" b="1">
                          <a:solidFill>
                            <a:srgbClr val="22272E"/>
                          </a:solidFill>
                          <a:latin typeface="Meiryo"/>
                        </a:rPr>
                        <a:t>使うSDK要素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Stage / LocalStageStream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 wrap="square" lIns="76200" rIns="76200"/>
                    <a:lstStyle/>
                    <a:p>
                      <a:r>
                        <a:rPr sz="1200" b="0">
                          <a:solidFill>
                            <a:srgbClr val="22272E"/>
                          </a:solidFill>
                          <a:latin typeface="Meiryo"/>
                        </a:rPr>
                        <a:t>Stage / StreamType（LocalStageStreamなし）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コード例：joinStage（subscribe-only）と映像受信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3章 視聴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ivsStageController.js ─ AUDIO_VIDEO購読＋STREAMS_ADDEDで映像を組み立て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const strategy =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stageStreamsToPublish:        () =&gt; [],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shouldPublishParticipant:     () =&gt; false,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shouldSubscribeToParticipant: () =&gt; SubscribeType.AUDIO_VIDEO,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preferredLayerForStream: (_p, stream) =&gt;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_preferredLayerLabel || null     // 未選択なら自動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_stage = new Stage(subscribeToken, strategy)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_stage.on(StageEvents.STAGE_PARTICIPANT_STREAMS_ADDED,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(participant, streams)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(participant &amp;&amp; participant.isLocal) return  // 自分は無視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const ms = new MediaStream()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for (const s of streams) ms.addTrack(s.mediaStreamTrack)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onStreams(ms)        // → &lt;video&gt;.srcObject にセット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STREAMS_REMOVED では onStreams(null) を返し、配信停止時に表示を止める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コード例：画質層の選択と自動フォールバック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3章 視聴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555F6B"/>
                </a:solidFill>
                <a:latin typeface="Meiryo"/>
              </a:rPr>
              <a:t>• ivsStageController.js ─ 選択した層が消えたら自動に戻す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908792" cy="4434840"/>
          </a:xfrm>
          <a:prstGeom prst="roundRect">
            <a:avLst/>
          </a:prstGeom>
          <a:solidFill>
            <a:srgbClr val="1E212B"/>
          </a:solidFill>
          <a:ln w="12700">
            <a:solidFill>
              <a:srgbClr val="3A40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77800" rIns="101600" tIns="101600" bIns="1016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視聴画質を選択（空なら自動選択へ戻る）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export function setPreferredLayer (label)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_preferredLayerLabel = label || null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if (_stage) _stage.refreshStrategy()   // strategyを再評価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EC699"/>
                </a:solidFill>
                <a:latin typeface="Consolas"/>
              </a:rPr>
              <a:t>// 選択中の層が配信側から消えたら自動に戻す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_stage.on(StageEvents.STAGE_STREAM_LAYERS_CHANGED,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(_p, stream, layers) =&gt;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if (_preferredLayerLabel &amp;&amp;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  !layers.some(l =&gt; l.label === _preferredLayerLabel))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  _preferredLayerLabel = null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AB0F3"/>
                </a:solidFill>
                <a:latin typeface="Consolas"/>
              </a:rPr>
              <a:t>      _stage.refreshStrategy()           // 自動に戻す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  onLayers(layers || [])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9EF"/>
                </a:solidFill>
                <a:latin typeface="Consolas"/>
              </a:rPr>
              <a:t> 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7A1E"/>
                </a:solidFill>
                <a:latin typeface="Meiryo"/>
              </a:rPr>
              <a:t>配信側 simulcast → 視聴側 preferredLayer。選択UIには自動フォールバックが必須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651760"/>
            <a:ext cx="1280160" cy="10972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87A1E"/>
                </a:solidFill>
                <a:latin typeface="Meiryo"/>
              </a:rPr>
              <a:t>終章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eiryo"/>
              </a:rPr>
              <a:t>設計判断 / 既知の課題 / 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D3E2"/>
                </a:solidFill>
                <a:latin typeface="Meiryo"/>
              </a:rPr>
              <a:t>通して効いた設計判断、正直に残っている課題、そして1人で縦に作って得たこと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効いた設計判断（5つ）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終章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① 短命トークン（1分）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WS認証→IVSトークンの二段構成。トークンはjoin時のみ使用。漏れても悪用されにくい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② 消す主体は配信者だけ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視聴終了ではdeleteStageしない。Stageは配信者のリソースという一貫した線引き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③ 孤児を二重で防ぐ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createRom失敗時のロールバック＋毎時cronの掃除（誤削除ガード付き）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④ closeRoomの順序と冪等性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Map除去を先頭に。closeAllViewersは_closedフラグで1度だけ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⑤ simulcast × 一方向購読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配信は複数画質を送り、視聴はAUDIO_VIDEOのみ購読＋画質を選択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既知の課題 / 今後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終章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孤児削除のスコープ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listStages()はAWSアカウント＋リージョン内の全Stageを返す。openchat-接頭辞に環境識別子が無い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eiryo"/>
              </a:rPr>
              <a:t>– 同一アカウント/リージョンを複数環境で共有すると他環境の配信中Stageを誤削除する恐れ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555F6B"/>
                </a:solidFill>
                <a:latin typeface="Meiryo"/>
              </a:rPr>
              <a:t>– 対策案: 環境ごとにアカウント/リージョンを分ける、または接頭辞に環境識別子を入れる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切断検知の遅延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ping/pongは30秒間隔・2回未応答で約2分。検知が遅れるとStageや視聴者カウントがその間残る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状態がメモリ常駐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配信状態はシングルトンのメモリ管理。サーバ多重化やフェイルオーバ時の引き継ぎは今後の課題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96926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eiryo"/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256032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200" b="1">
                <a:solidFill>
                  <a:srgbClr val="9FB0C4"/>
                </a:solidFill>
                <a:latin typeface="Meiryo"/>
              </a:rPr>
              <a:t>終章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OpenChatのライブ配信を、AWS IVS Stage を土台に1人で縦に構築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サーバ（Java）＝Stage/トークンのライフサイクル管理、孤児対策、終了処理の正しさ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配信（Vue）＝simulcast publish、途切れない画質変更、確実なリソース解放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22272E"/>
                </a:solidFill>
                <a:latin typeface="Meiryo"/>
              </a:rPr>
              <a:t>• 視聴（Vue）＝一方向subscribe、映像表示、画質選択と自動フォールバック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900" b="1">
                <a:solidFill>
                  <a:srgbClr val="2E6FB5"/>
                </a:solidFill>
                <a:latin typeface="Meiryo"/>
              </a:rPr>
              <a:t>3層を一貫した設計思想（短命トークン・配信者主体・孤児ゼロ）で貫けたのが成果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22272E"/>
                </a:solidFill>
                <a:latin typeface="Consolas"/>
              </a:rPr>
              <a:t>▶ ご清聴ありがとうございました（質疑へ）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